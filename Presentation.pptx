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53" autoAdjust="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6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-5944" y="9144"/>
            <a:ext cx="12191695" cy="6858000"/>
          </a:xfrm>
          <a:prstGeom prst="rect">
            <a:avLst/>
          </a:prstGeom>
          <a:solidFill>
            <a:srgbClr val="1F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731520" cy="73152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2152963"/>
            <a:ext cx="9454896" cy="14465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4400" dirty="0">
                <a:solidFill>
                  <a:schemeClr val="accent6"/>
                </a:solidFill>
              </a:rPr>
              <a:t>Tabular Deep Learning: A Leakage-Free, Threshold-Tuned Income Classifier</a:t>
            </a:r>
            <a:endParaRPr sz="4400" dirty="0">
              <a:solidFill>
                <a:schemeClr val="accent6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29487" y="4106555"/>
            <a:ext cx="10332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600" i="1" dirty="0">
                <a:solidFill>
                  <a:schemeClr val="bg1"/>
                </a:solidFill>
              </a:rPr>
              <a:t>An End-to-End Deep Learning Workflow: Beyond Accuracy: F1-Optimised Deep Learning on Imbalanced  Data</a:t>
            </a:r>
            <a:endParaRPr sz="1600" b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3327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99A3B8"/>
                </a:solidFill>
                <a:latin typeface="Calibri"/>
              </a:rPr>
              <a:t>Namrata Raghavan   ·  </a:t>
            </a:r>
            <a:r>
              <a:rPr lang="en-IN" sz="1400" b="0" dirty="0">
                <a:solidFill>
                  <a:srgbClr val="99A3B8"/>
                </a:solidFill>
                <a:latin typeface="Calibri"/>
              </a:rPr>
              <a:t>Shruthi Ravi</a:t>
            </a:r>
            <a:endParaRPr lang="en-IN" sz="1400" dirty="0">
              <a:solidFill>
                <a:srgbClr val="99A3B8"/>
              </a:solidFill>
              <a:latin typeface="Calibri"/>
            </a:endParaRPr>
          </a:p>
          <a:p>
            <a:pPr algn="l"/>
            <a:r>
              <a:rPr sz="1400" b="0" dirty="0">
                <a:solidFill>
                  <a:srgbClr val="99A3B8"/>
                </a:solidFill>
                <a:latin typeface="Calibri"/>
              </a:rPr>
              <a:t>Final Project   ·   TensorFlow / </a:t>
            </a:r>
            <a:r>
              <a:rPr sz="1400" b="0" dirty="0" err="1">
                <a:solidFill>
                  <a:srgbClr val="99A3B8"/>
                </a:solidFill>
                <a:latin typeface="Calibri"/>
              </a:rPr>
              <a:t>Keras</a:t>
            </a:r>
            <a:endParaRPr sz="1400" b="0" dirty="0">
              <a:solidFill>
                <a:srgbClr val="99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E4D"/>
                </a:solidFill>
                <a:latin typeface="Calibri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48640" cy="54864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Calibri"/>
              </a:rPr>
              <a:t>Can we predict whether an adult earns more than $50K from 14 census attributes?</a:t>
            </a:r>
          </a:p>
        </p:txBody>
      </p:sp>
      <p:pic>
        <p:nvPicPr>
          <p:cNvPr id="7" name="Picture 6" descr="01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5943600" cy="37460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49440" y="18288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2E4D"/>
                </a:solidFill>
                <a:latin typeface="Calibri"/>
              </a:rPr>
              <a:t>What makes this realistic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3774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22222"/>
                </a:solidFill>
                <a:latin typeface="Calibri"/>
              </a:rPr>
              <a:t>• 48,841 records, mixed numerical &amp; categorical</a:t>
            </a:r>
          </a:p>
          <a:p>
            <a:r>
              <a:rPr sz="1400" b="0">
                <a:solidFill>
                  <a:srgbClr val="222222"/>
                </a:solidFill>
                <a:latin typeface="Calibri"/>
              </a:rPr>
              <a:t>• Real missing values encoded as '?'</a:t>
            </a:r>
          </a:p>
          <a:p>
            <a:r>
              <a:rPr sz="1400" b="0">
                <a:solidFill>
                  <a:srgbClr val="222222"/>
                </a:solidFill>
                <a:latin typeface="Calibri"/>
              </a:rPr>
              <a:t>• ~24% positive class — moderate imbalance</a:t>
            </a:r>
          </a:p>
          <a:p>
            <a:r>
              <a:rPr sz="1400" b="0">
                <a:solidFill>
                  <a:srgbClr val="222222"/>
                </a:solidFill>
                <a:latin typeface="Calibri"/>
              </a:rPr>
              <a:t>• Documented fairness concerns to discuss</a:t>
            </a:r>
          </a:p>
          <a:p>
            <a:endParaRPr sz="1400" b="0">
              <a:solidFill>
                <a:srgbClr val="222222"/>
              </a:solidFill>
              <a:latin typeface="Calibri"/>
            </a:endParaRPr>
          </a:p>
          <a:p>
            <a:r>
              <a:rPr sz="1600" b="1">
                <a:solidFill>
                  <a:srgbClr val="1F2E4D"/>
                </a:solidFill>
                <a:latin typeface="Calibri"/>
              </a:rPr>
              <a:t>Why care?</a:t>
            </a:r>
          </a:p>
          <a:p>
            <a:r>
              <a:rPr sz="1400" b="0">
                <a:solidFill>
                  <a:srgbClr val="222222"/>
                </a:solidFill>
                <a:latin typeface="Calibri"/>
              </a:rPr>
              <a:t>• Tabular DL with leakage-free pipeline, calibration, threshold tuning — same shape as a real production ML problem.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1994 US Census · Becker &amp; Kohavi · UCI ML Repository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E4D"/>
                </a:solidFill>
                <a:latin typeface="Calibri"/>
              </a:rPr>
              <a:t>Dataset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48640" cy="54864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Calibri"/>
              </a:rPr>
              <a:t>UCI Adult Census Income — quick numbers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25603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sz="2800" b="1">
                <a:solidFill>
                  <a:srgbClr val="1F2E4D"/>
                </a:solidFill>
              </a:rPr>
              <a:t>48,841</a:t>
            </a:r>
          </a:p>
          <a:p>
            <a:pPr algn="ctr"/>
            <a:r>
              <a:rPr sz="1100">
                <a:solidFill>
                  <a:srgbClr val="6B6B6B"/>
                </a:solidFill>
              </a:rPr>
              <a:t>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737360"/>
            <a:ext cx="25603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sz="2800" b="1">
                <a:solidFill>
                  <a:srgbClr val="1F2E4D"/>
                </a:solidFill>
              </a:rPr>
              <a:t>14</a:t>
            </a:r>
          </a:p>
          <a:p>
            <a:pPr algn="ctr"/>
            <a:r>
              <a:rPr sz="1100">
                <a:solidFill>
                  <a:srgbClr val="6B6B6B"/>
                </a:solidFill>
              </a:rPr>
              <a:t>Input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37360"/>
            <a:ext cx="25603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sz="2800" b="1">
                <a:solidFill>
                  <a:srgbClr val="1F2E4D"/>
                </a:solidFill>
              </a:rPr>
              <a:t>~24%</a:t>
            </a:r>
          </a:p>
          <a:p>
            <a:pPr algn="ctr"/>
            <a:r>
              <a:rPr sz="1100">
                <a:solidFill>
                  <a:srgbClr val="6B6B6B"/>
                </a:solidFill>
              </a:rPr>
              <a:t>Positive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1737360"/>
            <a:ext cx="25603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sz="2800" b="1">
                <a:solidFill>
                  <a:srgbClr val="1F2E4D"/>
                </a:solidFill>
              </a:rPr>
              <a:t>~6%</a:t>
            </a:r>
          </a:p>
          <a:p>
            <a:pPr algn="ctr"/>
            <a:r>
              <a:rPr sz="1100">
                <a:solidFill>
                  <a:srgbClr val="6B6B6B"/>
                </a:solidFill>
              </a:rPr>
              <a:t>Missing values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2E4D"/>
                </a:solidFill>
                <a:latin typeface="Calibri"/>
              </a:rPr>
              <a:t>Numerical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age · fnlwgt · education-num · capital-gain · capital-loss · hours-per-week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2E4D"/>
                </a:solidFill>
                <a:latin typeface="Calibri"/>
              </a:rPr>
              <a:t>Categorical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workclass · education · marital-status · occupation · relationship · race · sex · native-country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5778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2E4D"/>
                </a:solidFill>
                <a:latin typeface="Calibri"/>
              </a:rP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income  →  binary  &gt;50K  vs  &lt;=50K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Stable feature schema · numerical / categorical split frozen before modelling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E4D"/>
                </a:solidFill>
                <a:latin typeface="Calibri"/>
              </a:rPr>
              <a:t>EDA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48640" cy="54864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Calibri"/>
              </a:rPr>
              <a:t>Older, more educated, longer hours, and capital-gains earners skew &gt;50K</a:t>
            </a:r>
          </a:p>
        </p:txBody>
      </p:sp>
      <p:pic>
        <p:nvPicPr>
          <p:cNvPr id="7" name="Picture 6" descr="02_numerical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315200" cy="3875422"/>
          </a:xfrm>
          <a:prstGeom prst="rect">
            <a:avLst/>
          </a:prstGeom>
        </p:spPr>
      </p:pic>
      <p:pic>
        <p:nvPicPr>
          <p:cNvPr id="8" name="Picture 7" descr="04_categorical_positive_r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554480"/>
            <a:ext cx="3749039" cy="24011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Strong signal: education-num · capital-gain · marital-status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E4D"/>
                </a:solidFill>
                <a:latin typeface="Calibri"/>
              </a:rPr>
              <a:t>End-to-end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48640" cy="54864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Calibri"/>
              </a:rPr>
              <a:t>One pipeline, fit only on training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691640" cy="1280160"/>
          </a:xfrm>
          <a:prstGeom prst="roundRect">
            <a:avLst/>
          </a:prstGeom>
          <a:solidFill>
            <a:srgbClr val="1F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Load &amp;
binarise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331720" y="2423160"/>
            <a:ext cx="164592" cy="274320"/>
          </a:xfrm>
          <a:prstGeom prst="rightArrow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496312" y="1920240"/>
            <a:ext cx="1691640" cy="1280160"/>
          </a:xfrm>
          <a:prstGeom prst="round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EDA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87952" y="2423160"/>
            <a:ext cx="164592" cy="274320"/>
          </a:xfrm>
          <a:prstGeom prst="rightArrow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52544" y="1920240"/>
            <a:ext cx="1691640" cy="1280160"/>
          </a:xfrm>
          <a:prstGeom prst="roundRect">
            <a:avLst/>
          </a:prstGeom>
          <a:solidFill>
            <a:srgbClr val="1F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Stratified
split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44184" y="2423160"/>
            <a:ext cx="164592" cy="274320"/>
          </a:xfrm>
          <a:prstGeom prst="rightArrow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08776" y="1920240"/>
            <a:ext cx="1691640" cy="1280160"/>
          </a:xfrm>
          <a:prstGeom prst="round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Preprocess
(fit on train)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900416" y="2423160"/>
            <a:ext cx="164592" cy="274320"/>
          </a:xfrm>
          <a:prstGeom prst="rightArrow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65008" y="1920240"/>
            <a:ext cx="1691640" cy="1280160"/>
          </a:xfrm>
          <a:prstGeom prst="roundRect">
            <a:avLst/>
          </a:prstGeom>
          <a:solidFill>
            <a:srgbClr val="1F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Baselines +
DNN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756648" y="2423160"/>
            <a:ext cx="164592" cy="274320"/>
          </a:xfrm>
          <a:prstGeom prst="rightArrow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921240" y="1920240"/>
            <a:ext cx="1691640" cy="1280160"/>
          </a:xfrm>
          <a:prstGeom prst="round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Threshold
tuning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F2E4D"/>
                </a:solidFill>
                <a:latin typeface="Calibri"/>
              </a:rPr>
              <a:t>Evaluate on a single held-out test set with 6 metrics → choose model on F1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6A33"/>
                </a:solidFill>
                <a:latin typeface="Calibri"/>
              </a:rPr>
              <a:t>Ground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6177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22222"/>
                </a:solidFill>
                <a:latin typeface="Calibri"/>
              </a:rPr>
              <a:t>• Split BEFORE preprocessing — no leakage.</a:t>
            </a:r>
          </a:p>
          <a:p>
            <a:r>
              <a:rPr sz="1300">
                <a:solidFill>
                  <a:srgbClr val="222222"/>
                </a:solidFill>
                <a:latin typeface="Calibri"/>
              </a:rPr>
              <a:t>• Same ColumnTransformer used for training and inference.</a:t>
            </a:r>
          </a:p>
          <a:p>
            <a:r>
              <a:rPr sz="1300">
                <a:solidFill>
                  <a:srgbClr val="222222"/>
                </a:solidFill>
                <a:latin typeface="Calibri"/>
              </a:rPr>
              <a:t>• Decision threshold tuned on validation, frozen before testing.</a:t>
            </a:r>
          </a:p>
          <a:p>
            <a:r>
              <a:rPr sz="1300">
                <a:solidFill>
                  <a:srgbClr val="222222"/>
                </a:solidFill>
                <a:latin typeface="Calibri"/>
              </a:rPr>
              <a:t>• Random seed fixed (numpy, python random, tensorflow).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Reproducibility built in from step 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E4D"/>
                </a:solidFill>
                <a:latin typeface="Calibri"/>
              </a:rPr>
              <a:t>Preprocessing — One Pipeline, Two Branches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48640" cy="54864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Calibri"/>
              </a:rPr>
              <a:t>Fit only on the training fold, reused unchanged at inference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2E4D"/>
                </a:solidFill>
                <a:latin typeface="Calibri"/>
              </a:rPr>
              <a:t>Numerical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22222"/>
                </a:solidFill>
                <a:latin typeface="Consolas"/>
              </a:rPr>
              <a:t>• SimpleImputer(strategy='median')</a:t>
            </a:r>
          </a:p>
          <a:p>
            <a:r>
              <a:rPr sz="1300">
                <a:solidFill>
                  <a:srgbClr val="222222"/>
                </a:solidFill>
                <a:latin typeface="Consolas"/>
              </a:rPr>
              <a:t>• StandardScaler()</a:t>
            </a:r>
          </a:p>
          <a:p>
            <a:r>
              <a:rPr sz="1300">
                <a:solidFill>
                  <a:srgbClr val="222222"/>
                </a:solidFill>
                <a:latin typeface="Calibri"/>
              </a:rPr>
              <a:t>• → robust to outliers (capital-gain has heavy tail)</a:t>
            </a:r>
          </a:p>
          <a:p>
            <a:r>
              <a:rPr sz="1300">
                <a:solidFill>
                  <a:srgbClr val="222222"/>
                </a:solidFill>
                <a:latin typeface="Calibri"/>
              </a:rPr>
              <a:t>• → zero-centred, unit-variance for the DNN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2E4D"/>
                </a:solidFill>
                <a:latin typeface="Calibri"/>
              </a:rPr>
              <a:t>Categorical branch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402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22222"/>
                </a:solidFill>
                <a:latin typeface="Consolas"/>
              </a:rPr>
              <a:t>• SimpleImputer(strategy='most_frequent')</a:t>
            </a:r>
          </a:p>
          <a:p>
            <a:r>
              <a:rPr sz="1300">
                <a:solidFill>
                  <a:srgbClr val="222222"/>
                </a:solidFill>
                <a:latin typeface="Consolas"/>
              </a:rPr>
              <a:t>• OneHotEncoder(handle_unknown='ignore')</a:t>
            </a:r>
          </a:p>
          <a:p>
            <a:r>
              <a:rPr sz="1300">
                <a:solidFill>
                  <a:srgbClr val="222222"/>
                </a:solidFill>
                <a:latin typeface="Calibri"/>
              </a:rPr>
              <a:t>• → unseen categories at inference encoded as zeros</a:t>
            </a:r>
          </a:p>
          <a:p>
            <a:r>
              <a:rPr sz="1300">
                <a:solidFill>
                  <a:srgbClr val="222222"/>
                </a:solidFill>
                <a:latin typeface="Calibri"/>
              </a:rPr>
              <a:t>• → no production crash, easy drift signal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212080"/>
            <a:ext cx="10972800" cy="914400"/>
          </a:xfrm>
          <a:prstGeom prst="roundRect">
            <a:avLst/>
          </a:prstGeom>
          <a:solidFill>
            <a:srgbClr val="1F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preprocess.fit_transform(X_train)  →  .transform(X_val)  →  .transform(X_test)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ColumnTransformer is fit once and reused everywhere — zero leakage by construction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E4D"/>
                </a:solidFill>
                <a:latin typeface="Calibri"/>
              </a:rPr>
              <a:t>Deep Neural Network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48640" cy="54864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Calibri"/>
              </a:rPr>
              <a:t>Five layers · ~880 KB on disk · trains in ~15 seconds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828800"/>
            <a:ext cx="5486400" cy="685800"/>
          </a:xfrm>
          <a:prstGeom prst="roundRect">
            <a:avLst/>
          </a:prstGeom>
          <a:solidFill>
            <a:srgbClr val="1F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Input  (110)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828800"/>
            <a:ext cx="22860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"/>
              </a:rPr>
              <a:t>post-preprocessing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651760"/>
            <a:ext cx="5486400" cy="685800"/>
          </a:xfrm>
          <a:prstGeom prst="round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Dense 256 + BN + Dropout 0.40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651760"/>
            <a:ext cx="22860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"/>
              </a:rPr>
              <a:t>wide first 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474720"/>
            <a:ext cx="5486400" cy="685800"/>
          </a:xfrm>
          <a:prstGeom prst="round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Dense 128 + BN + Dropout 0.30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3474720"/>
            <a:ext cx="22860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"/>
              </a:rPr>
              <a:t>compress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297680"/>
            <a:ext cx="5486400" cy="685800"/>
          </a:xfrm>
          <a:prstGeom prst="round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Dense 64 + Dropout 0.20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4297680"/>
            <a:ext cx="22860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"/>
              </a:rPr>
              <a:t>final hidden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5120640"/>
            <a:ext cx="5486400" cy="685800"/>
          </a:xfrm>
          <a:prstGeom prst="roundRect">
            <a:avLst/>
          </a:prstGeom>
          <a:solidFill>
            <a:srgbClr val="338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Dense 1 (sigmoid)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5120640"/>
            <a:ext cx="22860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"/>
              </a:rPr>
              <a:t>binary probability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8288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2E4D"/>
                </a:solidFill>
                <a:latin typeface="Calibri"/>
              </a:rPr>
              <a:t>Hyperparameters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194560"/>
            <a:ext cx="2560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  <a:latin typeface="Calibri"/>
              </a:rPr>
              <a:t>• Loss: binary cross-entropy</a:t>
            </a:r>
          </a:p>
          <a:p>
            <a:r>
              <a:rPr sz="1200">
                <a:solidFill>
                  <a:srgbClr val="222222"/>
                </a:solidFill>
                <a:latin typeface="Calibri"/>
              </a:rPr>
              <a:t>• Optimizer: Adam (1e-3)</a:t>
            </a:r>
          </a:p>
          <a:p>
            <a:r>
              <a:rPr sz="1200">
                <a:solidFill>
                  <a:srgbClr val="222222"/>
                </a:solidFill>
                <a:latin typeface="Calibri"/>
              </a:rPr>
              <a:t>• Batch size: 256</a:t>
            </a:r>
          </a:p>
          <a:p>
            <a:r>
              <a:rPr sz="1200">
                <a:solidFill>
                  <a:srgbClr val="222222"/>
                </a:solidFill>
                <a:latin typeface="Calibri"/>
              </a:rPr>
              <a:t>• L2 reg on layer 1: 1e-5</a:t>
            </a:r>
          </a:p>
          <a:p>
            <a:r>
              <a:rPr sz="1200">
                <a:solidFill>
                  <a:srgbClr val="222222"/>
                </a:solidFill>
                <a:latin typeface="Calibri"/>
              </a:rPr>
              <a:t>• EarlyStopping (val_auc, p=8)</a:t>
            </a:r>
          </a:p>
          <a:p>
            <a:r>
              <a:rPr sz="1200">
                <a:solidFill>
                  <a:srgbClr val="222222"/>
                </a:solidFill>
                <a:latin typeface="Calibri"/>
              </a:rPr>
              <a:t>• ReduceLROnPlateau (val_loss)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Dropout + BatchNorm chosen to control over-fitting on a 31K-row train fold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E4D"/>
                </a:solidFill>
                <a:latin typeface="Calibri"/>
              </a:rPr>
              <a:t>Training Behaviour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48640" cy="54864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Calibri"/>
              </a:rPr>
              <a:t>Converges in ~20 epochs with no over-fit gap</a:t>
            </a:r>
          </a:p>
        </p:txBody>
      </p:sp>
      <p:pic>
        <p:nvPicPr>
          <p:cNvPr id="7" name="Picture 6" descr="05_training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10789920" cy="35423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EarlyStopping(restore_best_weights=True) avoids the 'best epoch ≠ last epoch' trap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E4D"/>
                </a:solidFill>
                <a:latin typeface="Calibri"/>
              </a:rPr>
              <a:t>Threshold Tuning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48640" cy="54864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Calibri"/>
              </a:rPr>
              <a:t>0.5 is rarely optimal under class imbalance — sweep on validation, freeze, then test</a:t>
            </a:r>
          </a:p>
        </p:txBody>
      </p:sp>
      <p:pic>
        <p:nvPicPr>
          <p:cNvPr id="7" name="Picture 6" descr="10_threshold_tu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6675120" cy="41673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17830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2E4D"/>
                </a:solidFill>
                <a:latin typeface="Calibri"/>
              </a:rPr>
              <a:t>Why this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286000"/>
            <a:ext cx="4114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22222"/>
                </a:solidFill>
                <a:latin typeface="Calibri"/>
              </a:rPr>
              <a:t>• Raises DNN F1 by ~3 points</a:t>
            </a:r>
          </a:p>
          <a:p>
            <a:r>
              <a:rPr sz="1400">
                <a:solidFill>
                  <a:srgbClr val="222222"/>
                </a:solidFill>
                <a:latin typeface="Calibri"/>
              </a:rPr>
              <a:t>• Same model, different operating point</a:t>
            </a:r>
          </a:p>
          <a:p>
            <a:r>
              <a:rPr sz="1400">
                <a:solidFill>
                  <a:srgbClr val="222222"/>
                </a:solidFill>
                <a:latin typeface="Calibri"/>
              </a:rPr>
              <a:t>• Tuned on validation, never on test</a:t>
            </a:r>
          </a:p>
          <a:p>
            <a:r>
              <a:rPr sz="1400">
                <a:solidFill>
                  <a:srgbClr val="222222"/>
                </a:solidFill>
                <a:latin typeface="Calibri"/>
              </a:rPr>
              <a:t>• Threshold persisted alongside model in inference_config.json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4937760"/>
            <a:ext cx="4114800" cy="1371600"/>
          </a:xfrm>
          <a:prstGeom prst="round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Best threshold = 0.40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Single highest-leverage tweak in the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E4D"/>
                </a:solidFill>
                <a:latin typeface="Calibri"/>
              </a:rPr>
              <a:t>Results — Test 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48640" cy="54864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Calibri"/>
              </a:rPr>
              <a:t>DNN wins on F1, matches Random Forest on AUC, beats Logistic Regression everywhere</a:t>
            </a:r>
          </a:p>
        </p:txBody>
      </p:sp>
      <p:pic>
        <p:nvPicPr>
          <p:cNvPr id="7" name="Picture 6" descr="09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6400800" cy="3085885"/>
          </a:xfrm>
          <a:prstGeom prst="rect">
            <a:avLst/>
          </a:prstGeom>
        </p:spPr>
      </p:pic>
      <p:pic>
        <p:nvPicPr>
          <p:cNvPr id="8" name="Picture 7" descr="06_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691640"/>
            <a:ext cx="4572000" cy="388495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5074920"/>
            <a:ext cx="2743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sz="2800" b="1">
                <a:solidFill>
                  <a:srgbClr val="1F2E4D"/>
                </a:solidFill>
              </a:rPr>
              <a:t>0.700</a:t>
            </a:r>
          </a:p>
          <a:p>
            <a:pPr algn="ctr"/>
            <a:r>
              <a:rPr sz="1100">
                <a:solidFill>
                  <a:srgbClr val="6B6B6B"/>
                </a:solidFill>
              </a:rPr>
              <a:t>DNN  F1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5074920"/>
            <a:ext cx="2743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sz="2800" b="1">
                <a:solidFill>
                  <a:srgbClr val="1F2E4D"/>
                </a:solidFill>
              </a:rPr>
              <a:t>0.914</a:t>
            </a:r>
          </a:p>
          <a:p>
            <a:pPr algn="ctr"/>
            <a:r>
              <a:rPr sz="1100">
                <a:solidFill>
                  <a:srgbClr val="6B6B6B"/>
                </a:solidFill>
              </a:rPr>
              <a:t>DNN  ROC-AUC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5074920"/>
            <a:ext cx="2743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sz="2800" b="1">
                <a:solidFill>
                  <a:srgbClr val="1F2E4D"/>
                </a:solidFill>
              </a:rPr>
              <a:t>0.789</a:t>
            </a:r>
          </a:p>
          <a:p>
            <a:pPr algn="ctr"/>
            <a:r>
              <a:rPr sz="1100">
                <a:solidFill>
                  <a:srgbClr val="6B6B6B"/>
                </a:solidFill>
              </a:rPr>
              <a:t>DNN  PR-AUC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5074920"/>
            <a:ext cx="2743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sz="2800" b="1">
                <a:solidFill>
                  <a:srgbClr val="1F2E4D"/>
                </a:solidFill>
              </a:rPr>
              <a:t>0.850</a:t>
            </a:r>
          </a:p>
          <a:p>
            <a:pPr algn="ctr"/>
            <a:r>
              <a:rPr sz="1100">
                <a:solidFill>
                  <a:srgbClr val="6B6B6B"/>
                </a:solidFill>
              </a:rPr>
              <a:t>DNN 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Numbers on the held-out 20% test split (n = 9,769) · same metrics for all models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E4D"/>
                </a:solidFill>
                <a:latin typeface="Calibri"/>
              </a:rPr>
              <a:t>Final Model — DNN (chosen)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48640" cy="54864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Calibri"/>
              </a:rPr>
              <a:t>Confusion matrix on the held-out test fold</a:t>
            </a:r>
          </a:p>
        </p:txBody>
      </p:sp>
      <p:pic>
        <p:nvPicPr>
          <p:cNvPr id="7" name="Picture 6" descr="08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5486400" cy="4849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18288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2E4D"/>
                </a:solidFill>
                <a:latin typeface="Calibri"/>
              </a:rPr>
              <a:t>Why this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2860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22222"/>
                </a:solidFill>
                <a:latin typeface="Calibri"/>
              </a:rPr>
              <a:t>• Best F1 across all candidates after threshold tuning</a:t>
            </a:r>
          </a:p>
          <a:p>
            <a:r>
              <a:rPr sz="1400">
                <a:solidFill>
                  <a:srgbClr val="222222"/>
                </a:solidFill>
                <a:latin typeface="Calibri"/>
              </a:rPr>
              <a:t>• ROC-AUC within 0.003 of Random Forest</a:t>
            </a:r>
          </a:p>
          <a:p>
            <a:r>
              <a:rPr sz="1400">
                <a:solidFill>
                  <a:srgbClr val="222222"/>
                </a:solidFill>
                <a:latin typeface="Calibri"/>
              </a:rPr>
              <a:t>• Probabilistic output enables calibration &amp; risk-scoring</a:t>
            </a:r>
          </a:p>
          <a:p>
            <a:r>
              <a:rPr sz="1400">
                <a:solidFill>
                  <a:srgbClr val="222222"/>
                </a:solidFill>
                <a:latin typeface="Calibri"/>
              </a:rPr>
              <a:t>• Can be incrementally fine-tuned on new data</a:t>
            </a:r>
          </a:p>
          <a:p>
            <a:r>
              <a:rPr sz="1400">
                <a:solidFill>
                  <a:srgbClr val="222222"/>
                </a:solidFill>
                <a:latin typeface="Calibri"/>
              </a:rPr>
              <a:t>• 880 KB on disk · loads in &lt;1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Saved bundle: adult_dnn.keras + preprocess_pipeline.joblib + inference_config.json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E4D"/>
                </a:solidFill>
                <a:latin typeface="Calibri"/>
              </a:rPr>
              <a:t>Limitations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48640" cy="54864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Calibri"/>
              </a:rPr>
              <a:t>Honest scope statement and the roadmap if this were going to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86A33"/>
                </a:solidFill>
                <a:latin typeface="Calibri"/>
              </a:rP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22222"/>
                </a:solidFill>
                <a:latin typeface="Calibri"/>
              </a:rPr>
              <a:t>• 1994 Census — not the modern labour market</a:t>
            </a:r>
          </a:p>
          <a:p>
            <a:r>
              <a:rPr sz="1400">
                <a:solidFill>
                  <a:srgbClr val="222222"/>
                </a:solidFill>
                <a:latin typeface="Calibri"/>
              </a:rPr>
              <a:t>• Sensitive features (race, sex, country) used as predictors</a:t>
            </a:r>
          </a:p>
          <a:p>
            <a:r>
              <a:rPr sz="1400">
                <a:solidFill>
                  <a:srgbClr val="222222"/>
                </a:solidFill>
                <a:latin typeface="Calibri"/>
              </a:rPr>
              <a:t>• No fairness audit yet — a real deployment requires one</a:t>
            </a:r>
          </a:p>
          <a:p>
            <a:r>
              <a:rPr sz="1400">
                <a:solidFill>
                  <a:srgbClr val="222222"/>
                </a:solidFill>
                <a:latin typeface="Calibri"/>
              </a:rPr>
              <a:t>• Probabilities not calibrated (Platt / isotonic scaling pending)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38866"/>
                </a:solidFill>
                <a:latin typeface="Calibri"/>
              </a:rPr>
              <a:t>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22222"/>
                </a:solidFill>
                <a:latin typeface="Calibri"/>
              </a:rPr>
              <a:t>• Add Platt / isotonic calibration</a:t>
            </a:r>
          </a:p>
          <a:p>
            <a:r>
              <a:rPr sz="1400">
                <a:solidFill>
                  <a:srgbClr val="222222"/>
                </a:solidFill>
                <a:latin typeface="Calibri"/>
              </a:rPr>
              <a:t>• Per-group fairness audit (sex, race)</a:t>
            </a:r>
          </a:p>
          <a:p>
            <a:r>
              <a:rPr sz="1400">
                <a:solidFill>
                  <a:srgbClr val="222222"/>
                </a:solidFill>
                <a:latin typeface="Calibri"/>
              </a:rPr>
              <a:t>• Wrap predict() in FastAPI with auth + rate-limit</a:t>
            </a:r>
          </a:p>
          <a:p>
            <a:r>
              <a:rPr sz="1400">
                <a:solidFill>
                  <a:srgbClr val="222222"/>
                </a:solidFill>
                <a:latin typeface="Calibri"/>
              </a:rPr>
              <a:t>• Drift monitor (PSI on features, unknown-category counter)</a:t>
            </a:r>
          </a:p>
          <a:p>
            <a:r>
              <a:rPr sz="1400">
                <a:solidFill>
                  <a:srgbClr val="222222"/>
                </a:solidFill>
                <a:latin typeface="Calibri"/>
              </a:rPr>
              <a:t>• Compare with XGBoost as an ensemble member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All artefacts in models/ are version-controlled together — one bundle = one model release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731520" cy="73152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CCD3E2"/>
                </a:solidFill>
                <a:latin typeface="Calibri"/>
              </a:rPr>
              <a:t>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9A3B8"/>
                </a:solidFill>
                <a:latin typeface="Calibri"/>
              </a:rPr>
              <a:t>Code · notebook.ipynb       Methodology · Methodology.docx       Model · models/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917</Words>
  <Application>Microsoft Office PowerPoint</Application>
  <PresentationFormat>Widescreen</PresentationFormat>
  <Paragraphs>133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Shruthi Gia</cp:lastModifiedBy>
  <cp:revision>3</cp:revision>
  <dcterms:created xsi:type="dcterms:W3CDTF">2013-01-27T09:14:16Z</dcterms:created>
  <dcterms:modified xsi:type="dcterms:W3CDTF">2026-05-06T00:59:34Z</dcterms:modified>
  <cp:category/>
</cp:coreProperties>
</file>